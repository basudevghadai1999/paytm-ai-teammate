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Hackathon banner" descr="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590123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57200" y="3681563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0B2A6F"/>
                </a:solidFill>
                <a:latin typeface="Arial"/>
              </a:rPr>
              <a:t>Paytm AI Teammate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57200" y="4248491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A1F36"/>
                </a:solidFill>
                <a:latin typeface="Arial"/>
              </a:rPr>
              <a:t>Track 3: Autonomous AI Teammates  |  Resolving merchant support tickets end to end</a:t>
            </a:r>
          </a:p>
        </p:txBody>
      </p:sp>
      <p:sp>
        <p:nvSpPr>
          <p:cNvPr id="5" name="Team"/>
          <p:cNvSpPr txBox="1"/>
          <p:nvPr/>
        </p:nvSpPr>
        <p:spPr>
          <a:xfrm>
            <a:off x="457200" y="4595963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F4BC4"/>
                </a:solidFill>
                <a:latin typeface="Arial"/>
              </a:rPr>
              <a:t>Team COOLops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WHO WE BUILD FOR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User stories and basics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rgbClr val="0B2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544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Merchant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As a Paytm merchant, I want my settlement, refund or device issue fixed in one chat, so my shop keeps running without waiting on a call-back.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29000" y="1554480"/>
            <a:ext cx="411480" cy="41148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5544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Support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14884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As a support agent, I want only the risky or unclear cases, with the full story and a recommendation, so I never re-ask the merchant.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0" y="1554480"/>
            <a:ext cx="411480" cy="411480"/>
          </a:xfrm>
          <a:prstGeom prst="ellipse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15544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Support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4884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As a support lead, I want every AI action logged and measured, so I can trust what it does with money.</a:t>
            </a:r>
          </a:p>
        </p:txBody>
      </p:sp>
      <p:sp>
        <p:nvSpPr>
          <p:cNvPr id="19" name="Basics band"/>
          <p:cNvSpPr/>
          <p:nvPr/>
        </p:nvSpPr>
        <p:spPr>
          <a:xfrm>
            <a:off x="457200" y="3749039"/>
            <a:ext cx="8229600" cy="777240"/>
          </a:xfrm>
          <a:prstGeom prst="round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6908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B2A6F"/>
                </a:solidFill>
                <a:latin typeface="Arial"/>
              </a:rPr>
              <a:t>Customer 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84048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06908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B2A6F"/>
                </a:solidFill>
                <a:latin typeface="Arial"/>
              </a:rPr>
              <a:t>Paytm merchants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84048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06908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B2A6F"/>
                </a:solidFill>
                <a:latin typeface="Arial"/>
              </a:rPr>
              <a:t>Settlement, payment, refund, device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84048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SYSTEMS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06908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B2A6F"/>
                </a:solidFill>
                <a:latin typeface="Arial"/>
              </a:rPr>
              <a:t>Simulated for the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WHY IT MATTERS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Problem statement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0B2A6F"/>
          </a:solidFill>
          <a:ln w="12700">
            <a:solidFill>
              <a:srgbClr val="0B2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DB6F5"/>
                </a:solidFill>
                <a:latin typeface="Arial"/>
              </a:rPr>
              <a:t>THE CHALLENGE (TRACK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How might we build an AI teammate that can independently handle a customer-service or sales workflow end to end: resolving issues, taking actions across systems, and escalating to humans only when needed?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1417320"/>
            <a:ext cx="457200" cy="457200"/>
          </a:xfrm>
          <a:prstGeom prst="ellips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Money stuck, shop stalled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64208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 delayed settlement or a debited-but-failed payment hits a small merchant the same day.</a:t>
            </a:r>
          </a:p>
        </p:txBody>
      </p:sp>
      <p:sp>
        <p:nvSpPr>
          <p:cNvPr id="13" name="Oval 12"/>
          <p:cNvSpPr/>
          <p:nvPr/>
        </p:nvSpPr>
        <p:spPr>
          <a:xfrm>
            <a:off x="4206240" y="2468879"/>
            <a:ext cx="457200" cy="457200"/>
          </a:xfrm>
          <a:prstGeom prst="ellips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231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Bots answer, they do not 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715768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 reply that says "wait 2 days" still leaves the ticket open and the merchant waiting.</a:t>
            </a:r>
          </a:p>
        </p:txBody>
      </p:sp>
      <p:sp>
        <p:nvSpPr>
          <p:cNvPr id="16" name="Oval 15"/>
          <p:cNvSpPr/>
          <p:nvPr/>
        </p:nvSpPr>
        <p:spPr>
          <a:xfrm>
            <a:off x="4206240" y="3520439"/>
            <a:ext cx="457200" cy="457200"/>
          </a:xfrm>
          <a:prstGeom prst="ellips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74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Humans do the easy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767328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Routine lookups fill the queue, and hard cases arrive with no context.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WHAT WE BUILD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Proposed solution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7223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A1F36"/>
                </a:solidFill>
                <a:latin typeface="Arial"/>
              </a:rPr>
              <a:t>An AI teammate that closes the ticket, not just replies to it, and hands over to a human only when it should.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9202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194560"/>
            <a:ext cx="457200" cy="457200"/>
          </a:xfrm>
          <a:prstGeom prst="ellipse">
            <a:avLst/>
          </a:prstGeom>
          <a:solidFill>
            <a:srgbClr val="0B2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Understands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Reads the merchant profile, transactions, settlements, device and past tickets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2032" y="2011680"/>
            <a:ext cx="19202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24912" y="2194560"/>
            <a:ext cx="457200" cy="45720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788920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3154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Applies a policy: resolve, ask one question, or escalate.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2011680"/>
            <a:ext cx="19202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09744" y="2194560"/>
            <a:ext cx="457200" cy="457200"/>
          </a:xfrm>
          <a:prstGeom prst="ellipse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2788920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154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Refunds within limits, raises device replacements, notifies the merchant.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11696" y="2011680"/>
            <a:ext cx="19202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94576" y="2194560"/>
            <a:ext cx="457200" cy="457200"/>
          </a:xfrm>
          <a:prstGeom prst="ellips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2788920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Escalates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3154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Sends risky cases with a summary, steps tried and a recommendation.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HOW WE SOLVE IT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Our approach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5</a:t>
            </a:r>
          </a:p>
        </p:txBody>
      </p:sp>
      <p:sp>
        <p:nvSpPr>
          <p:cNvPr id="7" name="Pentagon 6"/>
          <p:cNvSpPr/>
          <p:nvPr/>
        </p:nvSpPr>
        <p:spPr>
          <a:xfrm>
            <a:off x="457200" y="1371600"/>
            <a:ext cx="1554480" cy="822960"/>
          </a:xfrm>
          <a:prstGeom prst="homePlate">
            <a:avLst/>
          </a:prstGeom>
          <a:solidFill>
            <a:srgbClr val="0B2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8288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Merchant raises ticket</a:t>
            </a:r>
          </a:p>
        </p:txBody>
      </p:sp>
      <p:sp>
        <p:nvSpPr>
          <p:cNvPr id="8" name="Pentagon 7"/>
          <p:cNvSpPr/>
          <p:nvPr/>
        </p:nvSpPr>
        <p:spPr>
          <a:xfrm>
            <a:off x="2121408" y="1371600"/>
            <a:ext cx="1554480" cy="822960"/>
          </a:xfrm>
          <a:prstGeom prst="homePlat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8288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Load context</a:t>
            </a:r>
          </a:p>
        </p:txBody>
      </p:sp>
      <p:sp>
        <p:nvSpPr>
          <p:cNvPr id="9" name="Pentagon 8"/>
          <p:cNvSpPr/>
          <p:nvPr/>
        </p:nvSpPr>
        <p:spPr>
          <a:xfrm>
            <a:off x="3785616" y="1371600"/>
            <a:ext cx="1554480" cy="822960"/>
          </a:xfrm>
          <a:prstGeom prst="homePlat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8288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Decide by policy</a:t>
            </a:r>
          </a:p>
        </p:txBody>
      </p:sp>
      <p:sp>
        <p:nvSpPr>
          <p:cNvPr id="10" name="Pentagon 9"/>
          <p:cNvSpPr/>
          <p:nvPr/>
        </p:nvSpPr>
        <p:spPr>
          <a:xfrm>
            <a:off x="5449824" y="1371600"/>
            <a:ext cx="1554480" cy="822960"/>
          </a:xfrm>
          <a:prstGeom prst="homePlate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8288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Act with guarded tools</a:t>
            </a:r>
          </a:p>
        </p:txBody>
      </p:sp>
      <p:sp>
        <p:nvSpPr>
          <p:cNvPr id="11" name="Pentagon 10"/>
          <p:cNvSpPr/>
          <p:nvPr/>
        </p:nvSpPr>
        <p:spPr>
          <a:xfrm>
            <a:off x="7114032" y="1371600"/>
            <a:ext cx="1554480" cy="822960"/>
          </a:xfrm>
          <a:prstGeom prst="homePlat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8288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Resolve or escalate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14600"/>
            <a:ext cx="40233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Guardrails live in code, not the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The model proposes; deterministic code decides.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Refund above the limit is blocked and escalated.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One refund per transaction.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Merchant id comes from the ticket, never from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514600"/>
            <a:ext cx="40233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Three possible outcomes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017520"/>
            <a:ext cx="777240" cy="310896"/>
          </a:xfrm>
          <a:prstGeom prst="roundRect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017520"/>
            <a:ext cx="777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Resolve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9900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Failed payment, customer debited, small amount: refund and notify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493008"/>
            <a:ext cx="777240" cy="310896"/>
          </a:xfrm>
          <a:prstGeom prst="round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493008"/>
            <a:ext cx="777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46557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Vague message: one clarifying question, then continue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968496"/>
            <a:ext cx="777240" cy="310896"/>
          </a:xfrm>
          <a:prstGeom prst="roundRect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968496"/>
            <a:ext cx="777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3941063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High-value refund, KYC hold, fraud: human with full context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WHAT IT IS BUILT WITH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Technology and tech stack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Groq, gpt-oss-120b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Tool calling for context, decisions and actions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087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755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Python, 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Agent loop, guarded tools, 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5087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755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PostgreSQL on Supabase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New tm_ tables for tickets, actions, escalations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1752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React, TypeScript, Vite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862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Merchant chat and ops console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301752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DELIVERY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Docker, Render, GitHub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38862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CI, auto-deploy, migrations on start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301752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2A6F"/>
                </a:solidFill>
                <a:latin typeface="Arial"/>
              </a:rPr>
              <a:t>Simulated 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8862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580"/>
                </a:solidFill>
                <a:latin typeface="Arial"/>
              </a:rPr>
              <a:t>Payments, settlements, devices, notifications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WHY THIS IS DIFFERENT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Unique selling proposition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rgbClr val="0B2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55448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Acts, not just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38528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Every ticket ends in a real action or a clean handoff.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3716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92040" y="1645920"/>
            <a:ext cx="548640" cy="54864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155448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Safe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79" y="1938528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Money rules are enforced in code, so a clever message cannot talk the AI past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15468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Escalation that helps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538728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Humans get the summary, what was tried and a recommended next step.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D96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15468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Auditable and 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3538728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Every step is logged, and results come from an eval run, not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WHAT CHANGES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Impact and benefits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Merchants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22860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Issue handled in one conversation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Money problems fixed faster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Clear status, no chasing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325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463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Support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19"/>
            <a:ext cx="22860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Routine tickets handled by AI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Escalations arrive with context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Time for complex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2A6F"/>
                </a:solidFill>
                <a:latin typeface="Arial"/>
              </a:rPr>
              <a:t>Paytm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22860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Support scales with merchant growth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Full audit trail of actions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Consistent policy every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F4BC4"/>
                </a:solidFill>
                <a:latin typeface="Arial"/>
              </a:rPr>
              <a:t>DEMO TARGETS, MEASURED BY OUR EVAL RUN (NOT CLAIMED RESULTS)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1920240" cy="914400"/>
          </a:xfrm>
          <a:prstGeom prst="round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0332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B2A6F"/>
                </a:solidFill>
                <a:latin typeface="Arial"/>
              </a:rPr>
              <a:t>70%+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tickets auto-resolved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2032" y="3657600"/>
            <a:ext cx="1920240" cy="914400"/>
          </a:xfrm>
          <a:prstGeom prst="round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2032" y="370332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B2A6F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42062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unsafe actions executed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26864" y="3657600"/>
            <a:ext cx="1920240" cy="914400"/>
          </a:xfrm>
          <a:prstGeom prst="round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70332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B2A6F"/>
                </a:solidFill>
                <a:latin typeface="Arial"/>
              </a:rPr>
              <a:t>&lt;30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42062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to close an AI ticket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1696" y="3657600"/>
            <a:ext cx="1920240" cy="914400"/>
          </a:xfrm>
          <a:prstGeom prst="round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370332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B2A6F"/>
                </a:solidFill>
                <a:latin typeface="Arial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42062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F36"/>
                </a:solidFill>
                <a:latin typeface="Arial"/>
              </a:rPr>
              <a:t>escalations with summary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rner arc"/>
          <p:cNvSpPr/>
          <p:nvPr/>
        </p:nvSpPr>
        <p:spPr>
          <a:xfrm>
            <a:off x="7955279" y="-914400"/>
            <a:ext cx="2011680" cy="2011680"/>
          </a:xfrm>
          <a:prstGeom prst="ellipse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"/>
          <p:cNvSpPr txBox="1"/>
          <p:nvPr/>
        </p:nvSpPr>
        <p:spPr>
          <a:xfrm>
            <a:off x="457200" y="34747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4BC4"/>
                </a:solidFill>
                <a:latin typeface="Arial"/>
              </a:rPr>
              <a:t>HOW IT EARNS (PROPOSED, TO BE VALIDATED)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66928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B2A6F"/>
                </a:solidFill>
                <a:latin typeface="Arial"/>
              </a:rPr>
              <a:t>Business model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475488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Paytm AI Hackathon  |  Build for India  |  Team COOLops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5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Who pays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Paytm support and operations, as an AI teammate that lowers the cost of handling merchant tickets.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37160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5087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How we 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82880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Per ticket resolved by AI, or a platform subscription with a ticket allowance.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Merchant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Priority AI support as part of a premium merchant plan.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74320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F4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880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2A6F"/>
                </a:solidFill>
                <a:latin typeface="Arial"/>
              </a:rPr>
              <a:t>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200400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1F36"/>
                </a:solidFill>
                <a:latin typeface="Arial"/>
              </a:rPr>
              <a:t>More ticket types, sales workflows, regional languages, other platforms.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580"/>
                </a:solidFill>
                <a:latin typeface="Arial"/>
              </a:rPr>
              <a:t>Path to production: shadow mode on real tickets, then a limited pilot with a low refund limit, then widen.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2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blue"/>
          <p:cNvSpPr/>
          <p:nvPr/>
        </p:nvSpPr>
        <p:spPr>
          <a:xfrm>
            <a:off x="7132320" y="-1097280"/>
            <a:ext cx="2926080" cy="292608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c sky"/>
          <p:cNvSpPr/>
          <p:nvPr/>
        </p:nvSpPr>
        <p:spPr>
          <a:xfrm>
            <a:off x="-914400" y="3566160"/>
            <a:ext cx="2560320" cy="2560320"/>
          </a:xfrm>
          <a:prstGeom prst="ellipse">
            <a:avLst/>
          </a:prstGeom>
          <a:solidFill>
            <a:srgbClr val="4DB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137160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Closing line"/>
          <p:cNvSpPr txBox="1"/>
          <p:nvPr/>
        </p:nvSpPr>
        <p:spPr>
          <a:xfrm>
            <a:off x="1371600" y="22860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Paytm AI Teammate: an AI that gets the merchant's problem solved, and knows when to call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4DB6F5"/>
                </a:solidFill>
                <a:latin typeface="Arial"/>
              </a:rPr>
              <a:t>Next: live demo and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Team COOLops  |  Paytm AI Hackathon  |  Build for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